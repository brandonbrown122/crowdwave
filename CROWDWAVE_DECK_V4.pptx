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Concept Tests per Quarter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Traditional
Research</c:v>
                </c:pt>
                <c:pt idx="1">
                  <c:v>CrowdWave
Simulation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CrowdWave Prediction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Smartphone
50+</c:v>
                </c:pt>
                <c:pt idx="1">
                  <c:v>Independent
voters</c:v>
                </c:pt>
                <c:pt idx="2">
                  <c:v>Trust in
scientists</c:v>
                </c:pt>
                <c:pt idx="3">
                  <c:v>AI
concern</c:v>
                </c:pt>
                <c:pt idx="4">
                  <c:v>Mfg
NPS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</c:v>
                </c:pt>
                <c:pt idx="1">
                  <c:v>44</c:v>
                </c:pt>
                <c:pt idx="2">
                  <c:v>77</c:v>
                </c:pt>
                <c:pt idx="3">
                  <c:v>50</c:v>
                </c:pt>
                <c:pt idx="4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Result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Smartphone
50+</c:v>
                </c:pt>
                <c:pt idx="1">
                  <c:v>Independent
voters</c:v>
                </c:pt>
                <c:pt idx="2">
                  <c:v>Trust in
scientists</c:v>
                </c:pt>
                <c:pt idx="3">
                  <c:v>AI
concern</c:v>
                </c:pt>
                <c:pt idx="4">
                  <c:v>Mfg
NPS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45</c:v>
                </c:pt>
                <c:pt idx="2">
                  <c:v>77</c:v>
                </c:pt>
                <c:pt idx="3">
                  <c:v>48</c:v>
                </c:pt>
                <c:pt idx="4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LLM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Mean Absolute
Error (pts)</c:v>
                </c:pt>
                <c:pt idx="1">
                  <c:v>Within 2 pts
(%)</c:v>
                </c:pt>
                <c:pt idx="2">
                  <c:v>Within 5 pts
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</c:v>
                </c:pt>
                <c:pt idx="1">
                  <c:v>7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Calibrated CrowdWave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Mean Absolute
Error (pts)</c:v>
                </c:pt>
                <c:pt idx="1">
                  <c:v>Within 2 pts
(%)</c:v>
                </c:pt>
                <c:pt idx="2">
                  <c:v>Within 5 pts
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1.9</c:v>
                </c:pt>
                <c:pt idx="1">
                  <c:v>81</c:v>
                </c:pt>
                <c:pt idx="2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LLM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Smartphone
ownership
(50+)</c:v>
                </c:pt>
                <c:pt idx="1">
                  <c:v>Daily internet
use (60+)</c:v>
                </c:pt>
                <c:pt idx="2">
                  <c:v>Video
streaming
(70+)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60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Smartphone
ownership
(50+)</c:v>
                </c:pt>
                <c:pt idx="1">
                  <c:v>Daily internet
use (60+)</c:v>
                </c:pt>
                <c:pt idx="2">
                  <c:v>Video
streaming
(70+)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Smartphone
ownership
(50+)</c:v>
                </c:pt>
                <c:pt idx="1">
                  <c:v>Daily internet
use (60+)</c:v>
                </c:pt>
                <c:pt idx="2">
                  <c:v>Video
streaming
(70+)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83</c:v>
                </c:pt>
                <c:pt idx="2">
                  <c:v>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Republican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Immigration
concern</c:v>
                </c:pt>
                <c:pt idx="1">
                  <c:v>Climate
concern</c:v>
                </c:pt>
                <c:pt idx="2">
                  <c:v>Gun violence
concern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Democrat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Immigration
concern</c:v>
                </c:pt>
                <c:pt idx="1">
                  <c:v>Climate
concern</c:v>
                </c:pt>
                <c:pt idx="2">
                  <c:v>Gun violence
concern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70</c:v>
                </c:pt>
                <c:pt idx="2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"Average"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Immigration
concern</c:v>
                </c:pt>
                <c:pt idx="1">
                  <c:v>Climate
concern</c:v>
                </c:pt>
                <c:pt idx="2">
                  <c:v>Gun violence
concern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</c:v>
                </c:pt>
                <c:pt idx="1">
                  <c:v>45</c:v>
                </c:pt>
                <c:pt idx="2">
                  <c:v>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Stated Intent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"Definitely
will buy"</c:v>
                </c:pt>
                <c:pt idx="1">
                  <c:v>"Probably
will buy"</c:v>
                </c:pt>
                <c:pt idx="2">
                  <c:v>"Might
consider"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55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Conversion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"Definitely
will buy"</c:v>
                </c:pt>
                <c:pt idx="1">
                  <c:v>"Probably
will buy"</c:v>
                </c:pt>
                <c:pt idx="2">
                  <c:v>"Might
consider"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Cyberattacks</c:v>
                </c:pt>
                <c:pt idx="1">
                  <c:v>AI disruption</c:v>
                </c:pt>
                <c:pt idx="2">
                  <c:v>Economic
uncertainty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90</c:v>
                </c:pt>
                <c:pt idx="2">
                  <c:v>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CFO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Cyberattacks</c:v>
                </c:pt>
                <c:pt idx="1">
                  <c:v>AI disruption</c:v>
                </c:pt>
                <c:pt idx="2">
                  <c:v>Economic
uncertainty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</c:v>
                </c:pt>
                <c:pt idx="1">
                  <c:v>105</c:v>
                </c:pt>
                <c:pt idx="2">
                  <c:v>150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CHRO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Cyberattacks</c:v>
                </c:pt>
                <c:pt idx="1">
                  <c:v>AI disruption</c:v>
                </c:pt>
                <c:pt idx="2">
                  <c:v>Economic
uncertainty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160</c:v>
                </c:pt>
                <c:pt idx="1">
                  <c:v>140</c:v>
                </c:pt>
                <c:pt idx="2">
                  <c:v>150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CMO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Cyberattacks</c:v>
                </c:pt>
                <c:pt idx="1">
                  <c:v>AI disruption</c:v>
                </c:pt>
                <c:pt idx="2">
                  <c:v>Economic
uncertainty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90</c:v>
                </c:pt>
                <c:pt idx="1">
                  <c:v>110</c:v>
                </c:pt>
                <c:pt idx="2">
                  <c:v>125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NPS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Manufacturing</c:v>
                </c:pt>
                <c:pt idx="1">
                  <c:v>Healthcare</c:v>
                </c:pt>
                <c:pt idx="2">
                  <c:v>Retail</c:v>
                </c:pt>
                <c:pt idx="3">
                  <c:v>Fintech</c:v>
                </c:pt>
                <c:pt idx="4">
                  <c:v>Software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61</c:v>
                </c:pt>
                <c:pt idx="2">
                  <c:v>55</c:v>
                </c:pt>
                <c:pt idx="3">
                  <c:v>46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Prediction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Manufacturing</c:v>
                </c:pt>
                <c:pt idx="1">
                  <c:v>Healthcare</c:v>
                </c:pt>
                <c:pt idx="2">
                  <c:v>Retail</c:v>
                </c:pt>
                <c:pt idx="3">
                  <c:v>Fintech</c:v>
                </c:pt>
                <c:pt idx="4">
                  <c:v>Software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Multiple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Time to insight</c:v>
                </c:pt>
                <c:pt idx="1">
                  <c:v>Cost per concept</c:v>
                </c:pt>
                <c:pt idx="2">
                  <c:v>Tests per quarter</c:v>
                </c:pt>
                <c:pt idx="3">
                  <c:v>Iterations possible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100</c:v>
                </c:pt>
                <c:pt idx="2">
                  <c:v>20</c:v>
                </c:pt>
                <c:pt idx="3">
                  <c:v>50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Validated domains</c:v>
                </c:pt>
                <c:pt idx="1">
                  <c:v>Bias corrections</c:v>
                </c:pt>
                <c:pt idx="2">
                  <c:v>Calibration factors</c:v>
                </c:pt>
                <c:pt idx="3">
                  <c:v>Test cases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8</c:v>
                </c:pt>
                <c:pt idx="2">
                  <c:v>100</c:v>
                </c:pt>
                <c:pt idx="3">
                  <c:v>27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CrowdWave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Accurate consumer insights in minutes, not months</a:t>
            </a:r>
            <a:br/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Market research takes 4-6 weeks and $25K+ per study. By the time you have answers, the market has moved.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solidFill>
            <a:srgbClr val="B4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017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Competitors running 20 concept tests per quarter will outlearn teams running 2-3. Speed is the new competitive moat.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1828800" cy="4572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663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CrowdWave delivers 95% directional accuracy in minutes. Validated against Pew, Gallup, AARP — 2-point average error. Test 10x more, kill losers instantly, validate only winners.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Your research budget buys 3 studies — competitors are testing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At $25K per study, your budget buys 3 tests. Competitors using simulation run 50.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20116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$25,000+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Cost per traditional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4-6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Time to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~$0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297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Marginal cost with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Time to first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 predicted real consumer behavior within 2 points — blindly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27 blind tests against Pew, Gallup, AARP. Mean error: 1.9 points.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20116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Error by test:</a:t>
            </a:r>
            <a:br/>
            <a:br/>
            <a:r>
              <a:t>• Smartphone 50+: 1 pt</a:t>
            </a:r>
            <a:br/>
            <a:r>
              <a:t>• Independent voters: 1 pt</a:t>
            </a:r>
            <a:br/>
            <a:r>
              <a:t>• Trust scientists: 0 pts</a:t>
            </a:r>
            <a:br/>
            <a:r>
              <a:t>• AI concern: 2 pts</a:t>
            </a:r>
            <a:br/>
            <a:r>
              <a:t>• Mfg NPS: 1 pt</a:t>
            </a:r>
            <a:br/>
            <a:br/>
            <a:r>
              <a:t>✓ 100% within 5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Raw AI predictions fail — calibration makes them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Raw AI averages 9-point error. Calibration cuts it to 1.9 points.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0" y="2286000"/>
            <a:ext cx="438912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468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3366"/>
                </a:solidFill>
              </a:defRPr>
            </a:pPr>
            <a:r>
              <a:t>Error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749039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Built from:</a:t>
            </a:r>
            <a:br/>
            <a:r>
              <a:t>• 8 documented bias patterns</a:t>
            </a:r>
            <a:br/>
            <a:r>
              <a:t>• 20+ domain calibrations</a:t>
            </a:r>
            <a:br/>
            <a:r>
              <a:t>• 5M+ human survey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Accuracy is predictable by question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Match the tool to the question type for predictable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±2-3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Trust, awareness, party ID,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✓ Use for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2286000" cy="548640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9632"/>
                </a:solidFill>
              </a:defRPr>
            </a:pPr>
            <a:r>
              <a:t>±4-5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Satisfaction, NPS, concern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✓ Use for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2286000" cy="54864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937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22222"/>
                </a:solidFill>
              </a:defRPr>
            </a:pPr>
            <a:r>
              <a:t>±8-15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Purchase intent, price sensitivity, polarized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⚠ Validate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Examples:  'Which 3 of 10 concepts resonate?' = Simulation alone  |  'How much would they pay?' = Validate  |  'Immigration views?' = Segment by party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LLMs systematically underestimate seniors — we found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LLMs underestimate adults 60+ by 25% on technology adoption.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Correction factors: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50-69: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×1.30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70-79: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×1.40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80+: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×1.50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389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Why it happens:</a:t>
            </a:r>
            <a:br/>
            <a:r>
              <a:t>LLM training over-represents stereotypes. Reality has shifted — 90% of 50+ own smartphones.</a:t>
            </a:r>
            <a:br/>
            <a:br/>
            <a:r>
              <a:t>Source: AARP Tech Trends 2025 (N=3,838)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Political topics require segmentation — or you'll miss by 50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The 'average American' is a fiction on partisan topics.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Partisan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Immigration: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2222"/>
                </a:solidFill>
              </a:defRPr>
            </a:pPr>
            <a:r>
              <a:t>50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Climate: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2222"/>
                </a:solidFill>
              </a:defRPr>
            </a:pPr>
            <a:r>
              <a:t>45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Gun violence: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2222"/>
                </a:solidFill>
              </a:defRPr>
            </a:pPr>
            <a:r>
              <a:t>35 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206240"/>
            <a:ext cx="41148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3891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Rule: Never report a single number on polarized topics.</a:t>
            </a:r>
            <a:br/>
            <a:br/>
            <a:r>
              <a:t>CrowdWave enforces segmentation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Purchase intent overstates reality by 3-5x — we apply 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Stated intent overstates actual behavior by 3-5x.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Conversion factors: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"Definitely"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×0.30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"Probably"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×0.15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404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"Might"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8404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×0.05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CrowdWave applies these corrections automatically when purchase intent questions are detected.</a:t>
            </a:r>
            <a:br/>
            <a:br/>
            <a:r>
              <a:t>For pricing: always validate with behavioral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C-suite predictions require role-specific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CHROs are 75% more worried about AI disruption than CEOs.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6464"/>
                </a:solidFill>
              </a:defRPr>
            </a:pPr>
            <a:r>
              <a:t>Index: 100 = generic 'executive'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011680"/>
            <a:ext cx="41148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insight:</a:t>
            </a:r>
            <a:br/>
            <a:br/>
            <a:r>
              <a:t>Generic 'executive' predictions miss role variation by 40+ points.</a:t>
            </a:r>
            <a:br/>
            <a:br/>
            <a:r>
              <a:t>• CHROs: +40% AI concern</a:t>
            </a:r>
            <a:br/>
            <a:r>
              <a:t>• CMOs: -10% cyber concern</a:t>
            </a:r>
            <a:br/>
            <a:r>
              <a:t>• CEOs: +35% economy focus</a:t>
            </a:r>
            <a:br/>
            <a:br/>
            <a:r>
              <a:t>Specify the role. Generic wastes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Industry NPS varies 35 points — raw AI misses this completely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Industry NPS ranges from 30 to 65 — LLMs assume everyone is at 40.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LLM error by industry: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Manufacturing: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2222"/>
                </a:solidFill>
              </a:defRPr>
            </a:pPr>
            <a:r>
              <a:t>-25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0632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Healthcare: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0632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2222"/>
                </a:solidFill>
              </a:defRPr>
            </a:pPr>
            <a:r>
              <a:t>-21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Retail: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2222"/>
                </a:solidFill>
              </a:defRPr>
            </a:pPr>
            <a:r>
              <a:t>-15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Fintech: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2222"/>
                </a:solidFill>
              </a:defRPr>
            </a:pPr>
            <a:r>
              <a:t>-6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Software: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9632"/>
                </a:solidFill>
              </a:defRPr>
            </a:pPr>
            <a:r>
              <a:t>+10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1206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Our fix: Industry-specific baselines. Manufacturing starts at 65.</a:t>
            </a:r>
            <a:br/>
            <a:br/>
            <a:r>
              <a:t>Source: Survicate 2025 (N=5.4M)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Simulation transforms research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10x more learning at 1/100th the cost. Compounding advantage.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The compounding effect: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Week 1: Simulate 20 concepts, kill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Week 2: Iterate on 5 survivors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Week 3: Validate top 2 ($50K)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Week 4: Launch with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6464"/>
                </a:solidFill>
              </a:defRPr>
            </a:pPr>
            <a:r>
              <a:t>Traditional: Test 2 concepts in 6 weeks. Hope you picked right.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 framework: Match confidence to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Match simulation confidence to decision stakes.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LOW 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HIGH STAKES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HIGH</a:t>
            </a:r>
            <a:br/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MEDIUM</a:t>
            </a:r>
            <a:br/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LOW</a:t>
            </a:r>
            <a:br/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2860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✓ Simulation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860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✓ Simulation +</a:t>
            </a:r>
            <a:br/>
            <a:r>
              <a:t>spot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6576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C8B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✓ Directional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6576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⚠ Validate before</a:t>
            </a:r>
            <a:br/>
            <a:r>
              <a:t>major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0292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⚠ Directional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5029200"/>
            <a:ext cx="3200400" cy="1188720"/>
          </a:xfrm>
          <a:prstGeom prst="rect">
            <a:avLst/>
          </a:prstGeom>
          <a:solidFill>
            <a:srgbClr val="F0F0F0"/>
          </a:solidFill>
          <a:ln w="381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✗ Always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Thresholds:  &lt;$100K → Simulation sufficient  |  $100K-$1M → Validate finalists  |  &gt;$1M → Simulation screens, humans decide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foundation: Validated calibrations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20+ validated domains, 8 bias corrections, 5M+ human responses.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828800"/>
            <a:ext cx="530352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Human survey</a:t>
            </a:r>
            <a:br/>
            <a:r>
              <a:t>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Source quality tiers: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Tier 1: Pew, Gallup, AARP (probability samples, N&gt;1K)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Tier 2: McKinsey, Deloitte, Conference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Tier 3: YouGov, Harris Poll (directional)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Domains: Trust, technology adoption, NPS by industry, executive attitudes, consumer concerns, travel/hospitality, healthcare, political identity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 actions to capture the speed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CrowdWave | Confidential | February 2026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Integrate simulation into every research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Simulate first. Screen concepts, kill losers. Then decide what needs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Set decision thresholds by stakes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Screening → Simulation only. Major campaigns → Validate finalists. Pricing → Always validate.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754880"/>
            <a:ext cx="640080" cy="6400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Track and compound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Log predictions vs. outcomes. Feed misses back. Calibration improves continuously.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The question isn't whether to use simulation — it's how much ground you'll lose to competitors who start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CrowdWave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Documented accuracy. Known limits. Transparent methodology.</a:t>
            </a:r>
            <a:br/>
            <a:br/>
            <a:r>
              <a:t>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