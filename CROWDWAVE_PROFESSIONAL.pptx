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Crowdwave Accuracy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918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Calibrated AI predictions with documented, predictable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5720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366"/>
                </a:solidFill>
                <a:latin typeface="Calibri"/>
              </a:rPr>
              <a:t>Calibration reduces prediction error by 79%, enabling reliable AI-simulated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Crowdwave | 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126480"/>
            <a:ext cx="82296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Source: Crowdwave validation (27 test cases); ForecastBench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1828800" cy="914400"/>
          </a:xfrm>
          <a:prstGeom prst="roundRect">
            <a:avLst/>
          </a:prstGeom>
          <a:solidFill>
            <a:srgbClr val="F8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>
                <a:solidFill>
                  <a:srgbClr val="003366"/>
                </a:solidFill>
                <a:latin typeface="Calibri"/>
              </a:rPr>
              <a:t>79%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Calibri"/>
              </a:rPr>
              <a:t>Error reduction</a:t>
            </a:r>
            <a:br/>
            <a:r>
              <a:t>vs. naive LLM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097280"/>
            <a:ext cx="1828800" cy="914400"/>
          </a:xfrm>
          <a:prstGeom prst="roundRect">
            <a:avLst/>
          </a:prstGeom>
          <a:solidFill>
            <a:srgbClr val="F8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234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>
                <a:solidFill>
                  <a:srgbClr val="003366"/>
                </a:solidFill>
                <a:latin typeface="Calibri"/>
              </a:rPr>
              <a:t>1.9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Calibri"/>
              </a:rPr>
              <a:t>Mean absolute</a:t>
            </a:r>
            <a:br/>
            <a:r>
              <a:t>error (points)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097280"/>
            <a:ext cx="1828800" cy="914400"/>
          </a:xfrm>
          <a:prstGeom prst="roundRect">
            <a:avLst/>
          </a:prstGeom>
          <a:solidFill>
            <a:srgbClr val="F8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234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>
                <a:solidFill>
                  <a:srgbClr val="003366"/>
                </a:solidFill>
                <a:latin typeface="Calibri"/>
              </a:rPr>
              <a:t>20+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Calibri"/>
              </a:rPr>
              <a:t>Validated</a:t>
            </a:r>
            <a:br/>
            <a:r>
              <a:t>domains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097280"/>
            <a:ext cx="1828800" cy="914400"/>
          </a:xfrm>
          <a:prstGeom prst="roundRect">
            <a:avLst/>
          </a:prstGeom>
          <a:solidFill>
            <a:srgbClr val="F8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234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>
                <a:solidFill>
                  <a:srgbClr val="003366"/>
                </a:solidFill>
                <a:latin typeface="Calibri"/>
              </a:rPr>
              <a:t>5M+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Calibri"/>
              </a:rPr>
              <a:t>Human survey</a:t>
            </a:r>
            <a:br/>
            <a:r>
              <a:t>responses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286000"/>
            <a:ext cx="508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3774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Core insight: Raw LLMs are 25% less accurate than expert forecasters. Calibration against human survey data closes this gap for established topics.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366"/>
                </a:solidFill>
                <a:latin typeface="Calibri"/>
              </a:rPr>
              <a:t>Raw LLM predictions fail at rates unacceptable for business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Crowdwave | 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126480"/>
            <a:ext cx="82296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Source: Forecasting Research Institute; Dig Insights validation study (N=500)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Brier Score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Superforecasters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GPT-4.5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0.101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+25%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GPT-4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0.131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+62%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Median public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0.150+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+85%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0" y="1097280"/>
          <a:ext cx="3657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Prediction Task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Correlation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Known events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0.85 ✓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Future events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0.50 ⚠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New concepts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0.30 ✗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0" y="2926080"/>
            <a:ext cx="3657600" cy="64008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926080"/>
            <a:ext cx="508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30175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Calibri"/>
              </a:rPr>
              <a:t>The paradox: Synthetic data works for what you already know — and fails at what you need to predict.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366"/>
                </a:solidFill>
                <a:latin typeface="Calibri"/>
              </a:rPr>
              <a:t>Accuracy varies predictably by question type, enabling appropriate use case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Crowdwave | 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126480"/>
            <a:ext cx="82296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Source: Crowdwave accuracy testing (27 test cases, 6 domains)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651760" cy="1828800"/>
          </a:xfrm>
          <a:prstGeom prst="rect">
            <a:avLst/>
          </a:prstGeom>
          <a:solidFill>
            <a:srgbClr val="D4EDDA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50800" cy="1828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8872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8A745"/>
                </a:solidFill>
                <a:latin typeface="Calibri"/>
              </a:rPr>
              <a:t>HIGH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3366"/>
                </a:solidFill>
                <a:latin typeface="Calibri"/>
              </a:rPr>
              <a:t>±2-3 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Calibri"/>
              </a:rPr>
              <a:t>Trust scales</a:t>
            </a:r>
          </a:p>
          <a:p>
            <a:r>
              <a:rPr sz="900" b="0">
                <a:solidFill>
                  <a:srgbClr val="222222"/>
                </a:solidFill>
                <a:latin typeface="Calibri"/>
              </a:rPr>
              <a:t>Awareness (Y/N)</a:t>
            </a:r>
          </a:p>
          <a:p>
            <a:r>
              <a:rPr sz="900" b="0">
                <a:solidFill>
                  <a:srgbClr val="222222"/>
                </a:solidFill>
                <a:latin typeface="Calibri"/>
              </a:rPr>
              <a:t>Party ID</a:t>
            </a:r>
          </a:p>
          <a:p>
            <a:r>
              <a:rPr sz="900" b="0">
                <a:solidFill>
                  <a:srgbClr val="222222"/>
                </a:solidFill>
                <a:latin typeface="Calibri"/>
              </a:rPr>
              <a:t>Bipartisan rankings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06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8A745"/>
                </a:solidFill>
                <a:latin typeface="Calibri"/>
              </a:rPr>
              <a:t>→ Use for decisions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097280"/>
            <a:ext cx="2651760" cy="1828800"/>
          </a:xfrm>
          <a:prstGeom prst="rect">
            <a:avLst/>
          </a:prstGeom>
          <a:solidFill>
            <a:srgbClr val="FFF3CD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097280"/>
            <a:ext cx="50800" cy="1828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18872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C107"/>
                </a:solidFill>
                <a:latin typeface="Calibri"/>
              </a:rPr>
              <a:t>MEDIUM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4173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3366"/>
                </a:solidFill>
                <a:latin typeface="Calibri"/>
              </a:rPr>
              <a:t>±4-5 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7373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Calibri"/>
              </a:rPr>
              <a:t>Satisfaction (1-5)</a:t>
            </a:r>
          </a:p>
          <a:p>
            <a:r>
              <a:rPr sz="900" b="0">
                <a:solidFill>
                  <a:srgbClr val="222222"/>
                </a:solidFill>
                <a:latin typeface="Calibri"/>
              </a:rPr>
              <a:t>NPS / Recommend</a:t>
            </a:r>
          </a:p>
          <a:p>
            <a:r>
              <a:rPr sz="900" b="0">
                <a:solidFill>
                  <a:srgbClr val="222222"/>
                </a:solidFill>
                <a:latin typeface="Calibri"/>
              </a:rPr>
              <a:t>Concern levels</a:t>
            </a:r>
          </a:p>
          <a:p>
            <a:r>
              <a:rPr sz="900" b="0">
                <a:solidFill>
                  <a:srgbClr val="222222"/>
                </a:solidFill>
                <a:latin typeface="Calibri"/>
              </a:rPr>
              <a:t>Tech comfort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606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C107"/>
                </a:solidFill>
                <a:latin typeface="Calibri"/>
              </a:rPr>
              <a:t>→ Use for direction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097280"/>
            <a:ext cx="2651760" cy="1828800"/>
          </a:xfrm>
          <a:prstGeom prst="rect">
            <a:avLst/>
          </a:prstGeom>
          <a:solidFill>
            <a:srgbClr val="F8D7DA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1097280"/>
            <a:ext cx="50800" cy="1828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18872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DC3545"/>
                </a:solidFill>
                <a:latin typeface="Calibri"/>
              </a:rPr>
              <a:t>LOW 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4173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3366"/>
                </a:solidFill>
                <a:latin typeface="Calibri"/>
              </a:rPr>
              <a:t>±8-15 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7373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Calibri"/>
              </a:rPr>
              <a:t>Purchase intent</a:t>
            </a:r>
          </a:p>
          <a:p>
            <a:r>
              <a:rPr sz="900" b="0">
                <a:solidFill>
                  <a:srgbClr val="222222"/>
                </a:solidFill>
                <a:latin typeface="Calibri"/>
              </a:rPr>
              <a:t>Price sensitivity</a:t>
            </a:r>
          </a:p>
          <a:p>
            <a:r>
              <a:rPr sz="900" b="0">
                <a:solidFill>
                  <a:srgbClr val="222222"/>
                </a:solidFill>
                <a:latin typeface="Calibri"/>
              </a:rPr>
              <a:t>Polarized politics</a:t>
            </a:r>
          </a:p>
          <a:p>
            <a:r>
              <a:rPr sz="900" b="0">
                <a:solidFill>
                  <a:srgbClr val="222222"/>
                </a:solidFill>
                <a:latin typeface="Calibri"/>
              </a:rPr>
              <a:t>Novel behaviors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606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C3545"/>
                </a:solidFill>
                <a:latin typeface="Calibri"/>
              </a:rPr>
              <a:t>→ Validate first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366"/>
                </a:solidFill>
                <a:latin typeface="Calibri"/>
              </a:rPr>
              <a:t>High-accuracy zone: Stable attitudes with abundant benchmark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Crowdwave | 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126480"/>
            <a:ext cx="82296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Source: Gallup (N=13,000+); Pew Research (N=5,000+); AARP 2025 (N=3,838)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4572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Calibrated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Trust in scientists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 pts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% Independent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44%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 pt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Smartphone 50+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89%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 pt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Employee engaged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32%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 pt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0" y="1097280"/>
            <a:ext cx="3200400" cy="1645920"/>
          </a:xfrm>
          <a:prstGeom prst="rect">
            <a:avLst/>
          </a:prstGeom>
          <a:solidFill>
            <a:srgbClr val="F8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0" y="118872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3366"/>
                </a:solidFill>
                <a:latin typeface="Calibri"/>
              </a:rPr>
              <a:t>Why these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4630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2222"/>
                </a:solidFill>
                <a:latin typeface="Calibri"/>
              </a:rPr>
              <a:t>• Stable attitudes over time</a:t>
            </a:r>
          </a:p>
          <a:p>
            <a:r>
              <a:rPr sz="1000" b="0">
                <a:solidFill>
                  <a:srgbClr val="222222"/>
                </a:solidFill>
                <a:latin typeface="Calibri"/>
              </a:rPr>
              <a:t>• Multiple benchmark sources</a:t>
            </a:r>
          </a:p>
          <a:p>
            <a:r>
              <a:rPr sz="1000" b="0">
                <a:solidFill>
                  <a:srgbClr val="222222"/>
                </a:solidFill>
                <a:latin typeface="Calibri"/>
              </a:rPr>
              <a:t>• Low emotional volatility</a:t>
            </a:r>
          </a:p>
          <a:p>
            <a:r>
              <a:rPr sz="1000" b="0">
                <a:solidFill>
                  <a:srgbClr val="222222"/>
                </a:solidFill>
                <a:latin typeface="Calibri"/>
              </a:rPr>
              <a:t>• Training data aligns with reality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366"/>
                </a:solidFill>
                <a:latin typeface="Calibri"/>
              </a:rPr>
              <a:t>Industry-specific calibration required for NPS: actual variance is 30+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Crowdwave | 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126480"/>
            <a:ext cx="82296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Source: Survicate NPS Benchmark 2025 (599 companies, 5.4M responses)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68580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914400"/>
                <a:gridCol w="914400"/>
                <a:gridCol w="1371600"/>
              </a:tblGrid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Industry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Median NPS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B2B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B2C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LLM Error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Manufacturing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-25 pts</a:t>
                      </a:r>
                    </a:p>
                  </a:txBody>
                  <a:tcPr anchor="ctr"/>
                </a:tc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Healthcare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-20 pts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Retail/Ecommerce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-15 pts</a:t>
                      </a:r>
                    </a:p>
                  </a:txBody>
                  <a:tcPr anchor="ctr"/>
                </a:tc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Fintech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-10 pts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+5 pts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508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Calibri"/>
              </a:rPr>
              <a:t>LLMs assume NPS of 35-40 for all industries. Industry-specific calibration is required for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366"/>
                </a:solidFill>
                <a:latin typeface="Calibri"/>
              </a:rPr>
              <a:t>Low-accuracy zone: Intent requires conversion factors; polarized topics require segmentation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Crowdwave | 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126480"/>
            <a:ext cx="82296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Source: Meta-analysis (intent gap); Pew Research Feb 2025 (N=5,086)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3657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Stated Response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Actual Conversion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"Very likely"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25-35% (×0.30)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"Likely"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10-20% (×0.15)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"Might consider"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3-8% (×0.05)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0" y="1097280"/>
          <a:ext cx="4114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Rep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Dem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Immigration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50 pts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Climate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45 pts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Gun violence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35 pts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0" y="2926080"/>
            <a:ext cx="4114800" cy="64008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926080"/>
            <a:ext cx="508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30175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Calibri"/>
              </a:rPr>
              <a:t>Never predict a single number for polarized topics. The 'average' represents no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366"/>
                </a:solidFill>
                <a:latin typeface="Calibri"/>
              </a:rPr>
              <a:t>Eight documented LLM bias patterns enable systematic correction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Crowdwave | 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126480"/>
            <a:ext cx="82296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Source: Validated calibrations in CALIBRATION_MEMORY.md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05840"/>
          <a:ext cx="658368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371600"/>
                <a:gridCol w="1828800"/>
              </a:tblGrid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Bias Pattern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Correction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Senior tech adoption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Under-predicts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×1.30-1.65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AARP 2025</a:t>
                      </a:r>
                    </a:p>
                  </a:txBody>
                  <a:tcPr anchor="ctr"/>
                </a:tc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AI concern (general)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Over-predicts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×0.90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Pew/YouGov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Status quo preference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Under-predicts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+15-20 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Behavioral research</a:t>
                      </a:r>
                    </a:p>
                  </a:txBody>
                  <a:tcPr anchor="ctr"/>
                </a:tc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Intent-to-action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Over-predicts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×0.30-0.55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Meta-analysis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Emotional intensity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Under-predicts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×1.20-1.30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Pet study (N=173)</a:t>
                      </a:r>
                    </a:p>
                  </a:txBody>
                  <a:tcPr anchor="ctr"/>
                </a:tc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Life satisfaction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Over-predicts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-3 to -5 pts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Gallup 2025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Partisan averaging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Pew 2025</a:t>
                      </a:r>
                    </a:p>
                  </a:txBody>
                  <a:tcPr anchor="ctr"/>
                </a:tc>
              </a:tr>
              <a:tr h="27432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Open-end polish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Over-polished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20% low-quality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Industry benchmark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366"/>
                </a:solidFill>
                <a:latin typeface="Calibri"/>
              </a:rPr>
              <a:t>Calibration brings 100% of predictions within 5 points of actual survey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Crowdwave | 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126480"/>
            <a:ext cx="82296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Source: Crowdwave validation (27 test cases, 6 domains)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51206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Naive LLM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Calibrated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Improvement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Mean absolute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9.1 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1.9 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79%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Within 2 pts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81%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+74 pts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Within 5 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+70 pts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0" y="1097280"/>
            <a:ext cx="32004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097280"/>
            <a:ext cx="508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60" y="11887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79% error reduction</a:t>
            </a:r>
            <a:br/>
            <a:r>
              <a:t>Statistically significant at p &lt; 0.0001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366"/>
                </a:solidFill>
                <a:latin typeface="Calibri"/>
              </a:rPr>
              <a:t>Executive audiences require role-specific calibration: CHROs are 75% more concerned about AI than CEOs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Crowdwave | 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126480"/>
            <a:ext cx="82296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Source: Conference Board Global C-Suite Survey 2026 (N=1,732)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69494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822960"/>
                <a:gridCol w="822960"/>
                <a:gridCol w="822960"/>
                <a:gridCol w="201168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Concern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CEO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CFO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CHRO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CMO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Insight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Cyberattacks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×1.30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×1.40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×1.60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×0.90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CHROs most concerned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AI disruption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×0.90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×1.05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×1.40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×1.10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CEOs least concerned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Transformation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×1.50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×1.15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×1.70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×1.40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CHROs leading change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Uncertainty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×1.35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×1.50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×1.50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×1.25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CFOs feel it most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508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Calibri"/>
              </a:rPr>
              <a:t>Generic 'executive' predictions miss role-based variations. Always segment by role when surveying C-suite.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366"/>
                </a:solidFill>
                <a:latin typeface="Calibri"/>
              </a:rPr>
              <a:t>Use case guidance: Match application to accuracy zone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Crowdwave | 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126480"/>
            <a:ext cx="82296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Source: Crowdwave accuracy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2651760" cy="1645920"/>
          </a:xfrm>
          <a:prstGeom prst="rect">
            <a:avLst/>
          </a:prstGeom>
          <a:solidFill>
            <a:srgbClr val="D4EDDA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0800" cy="16459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9728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8A745"/>
                </a:solidFill>
                <a:latin typeface="Calibri"/>
              </a:rPr>
              <a:t>HIGH 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Calibri"/>
              </a:rPr>
              <a:t>Concept testing</a:t>
            </a:r>
          </a:p>
          <a:p>
            <a:r>
              <a:rPr sz="900" b="0">
                <a:solidFill>
                  <a:srgbClr val="222222"/>
                </a:solidFill>
                <a:latin typeface="Calibri"/>
              </a:rPr>
              <a:t>Audience sizing</a:t>
            </a:r>
          </a:p>
          <a:p>
            <a:r>
              <a:rPr sz="900" b="0">
                <a:solidFill>
                  <a:srgbClr val="222222"/>
                </a:solidFill>
                <a:latin typeface="Calibri"/>
              </a:rPr>
              <a:t>Trend validation</a:t>
            </a:r>
          </a:p>
          <a:p>
            <a:r>
              <a:rPr sz="900" b="0">
                <a:solidFill>
                  <a:srgbClr val="222222"/>
                </a:solidFill>
                <a:latin typeface="Calibri"/>
              </a:rPr>
              <a:t>Priority ranking</a:t>
            </a:r>
          </a:p>
          <a:p>
            <a:r>
              <a:rPr sz="900" b="0">
                <a:solidFill>
                  <a:srgbClr val="222222"/>
                </a:solidFill>
                <a:latin typeface="Calibri"/>
              </a:rPr>
              <a:t>Benchmarking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005840"/>
            <a:ext cx="2651760" cy="1645920"/>
          </a:xfrm>
          <a:prstGeom prst="rect">
            <a:avLst/>
          </a:prstGeom>
          <a:solidFill>
            <a:srgbClr val="FFF3CD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005840"/>
            <a:ext cx="50800" cy="1645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09728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C107"/>
                </a:solidFill>
                <a:latin typeface="Calibri"/>
              </a:rPr>
              <a:t>MEDIUM 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325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Calibri"/>
              </a:rPr>
              <a:t>Hypothesis generation</a:t>
            </a:r>
          </a:p>
          <a:p>
            <a:r>
              <a:rPr sz="900" b="0">
                <a:solidFill>
                  <a:srgbClr val="222222"/>
                </a:solidFill>
                <a:latin typeface="Calibri"/>
              </a:rPr>
              <a:t>Early screening</a:t>
            </a:r>
          </a:p>
          <a:p>
            <a:r>
              <a:rPr sz="900" b="0">
                <a:solidFill>
                  <a:srgbClr val="222222"/>
                </a:solidFill>
                <a:latin typeface="Calibri"/>
              </a:rPr>
              <a:t>Directional guidance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005840"/>
            <a:ext cx="2651760" cy="1645920"/>
          </a:xfrm>
          <a:prstGeom prst="rect">
            <a:avLst/>
          </a:prstGeom>
          <a:solidFill>
            <a:srgbClr val="F8D7DA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005840"/>
            <a:ext cx="50800" cy="16459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09728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DC3545"/>
                </a:solidFill>
                <a:latin typeface="Calibri"/>
              </a:rPr>
              <a:t>VALIDATE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325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Calibri"/>
              </a:rPr>
              <a:t>New products</a:t>
            </a:r>
          </a:p>
          <a:p>
            <a:r>
              <a:rPr sz="900" b="0">
                <a:solidFill>
                  <a:srgbClr val="222222"/>
                </a:solidFill>
                <a:latin typeface="Calibri"/>
              </a:rPr>
              <a:t>Pricing research</a:t>
            </a:r>
          </a:p>
          <a:p>
            <a:r>
              <a:rPr sz="900" b="0">
                <a:solidFill>
                  <a:srgbClr val="222222"/>
                </a:solidFill>
                <a:latin typeface="Calibri"/>
              </a:rPr>
              <a:t>High-stakes decisions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926080"/>
            <a:ext cx="508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0175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Calibri"/>
              </a:rPr>
              <a:t>Not recommended without validation: Purchase conversion (use A/B tests), polarized topics (segment by party), novel behaviors (no training data), legal/regulatory evidence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366"/>
                </a:solidFill>
                <a:latin typeface="Calibri"/>
              </a:rPr>
              <a:t>Competitive differentiation: Documented accuracy vs. unvalidated claims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Crowdwave | 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126480"/>
            <a:ext cx="82296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Source: Competitive analysis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76809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2011680"/>
                <a:gridCol w="201168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Raw LLM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Competitors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Crowdwave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Documented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"95%" (unvalidated)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27 test cases ✓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Human validation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Unclear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5M+ responses ✓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Bias corrections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None documented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8 patterns ✓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Domain calibrations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Generic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20+ domains ✓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Confidence scoring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Per-question ✓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Known limitations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Documented ✓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508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7490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Calibri"/>
              </a:rPr>
              <a:t>Differentiation: Other vendors claim magic. We document our methodology, show our work, and tell you when NOT to trust the output.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366"/>
                </a:solidFill>
                <a:latin typeface="Calibri"/>
              </a:rPr>
              <a:t>Summary: Calibrated predictions deliver 79% error reduction with known accuracy by question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Crowdwave | 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126480"/>
            <a:ext cx="82296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Calibri"/>
              </a:rPr>
              <a:t>Source: Crowdwave Accuracy Framework, February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1920240" cy="822960"/>
          </a:xfrm>
          <a:prstGeom prst="roundRect">
            <a:avLst/>
          </a:prstGeom>
          <a:solidFill>
            <a:srgbClr val="F8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>
                <a:solidFill>
                  <a:srgbClr val="003366"/>
                </a:solidFill>
                <a:latin typeface="Calibri"/>
              </a:rPr>
              <a:t>79%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Calibri"/>
              </a:rPr>
              <a:t>Error reduction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005840"/>
            <a:ext cx="1920240" cy="822960"/>
          </a:xfrm>
          <a:prstGeom prst="roundRect">
            <a:avLst/>
          </a:prstGeom>
          <a:solidFill>
            <a:srgbClr val="F8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14300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>
                <a:solidFill>
                  <a:srgbClr val="003366"/>
                </a:solidFill>
                <a:latin typeface="Calibri"/>
              </a:rPr>
              <a:t>1.9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508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Calibri"/>
              </a:rPr>
              <a:t>Mean 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005840"/>
            <a:ext cx="1920240" cy="822960"/>
          </a:xfrm>
          <a:prstGeom prst="roundRect">
            <a:avLst/>
          </a:prstGeom>
          <a:solidFill>
            <a:srgbClr val="F8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14300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>
                <a:solidFill>
                  <a:srgbClr val="003366"/>
                </a:solidFill>
                <a:latin typeface="Calibri"/>
              </a:rPr>
              <a:t>20+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508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Calibri"/>
              </a:rPr>
              <a:t>Domains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005840"/>
            <a:ext cx="1920240" cy="822960"/>
          </a:xfrm>
          <a:prstGeom prst="roundRect">
            <a:avLst/>
          </a:prstGeom>
          <a:solidFill>
            <a:srgbClr val="F8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14300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>
                <a:solidFill>
                  <a:srgbClr val="003366"/>
                </a:solidFill>
                <a:latin typeface="Calibri"/>
              </a:rPr>
              <a:t>5M+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508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Calibri"/>
              </a:rPr>
              <a:t>Responses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11680"/>
            <a:ext cx="2651760" cy="1005840"/>
          </a:xfrm>
          <a:prstGeom prst="rect">
            <a:avLst/>
          </a:prstGeom>
          <a:solidFill>
            <a:srgbClr val="D4EDDA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011680"/>
            <a:ext cx="5080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3317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3366"/>
                </a:solidFill>
                <a:latin typeface="Calibri"/>
              </a:rPr>
              <a:t>±2-3 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651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Calibri"/>
              </a:rPr>
              <a:t>Trust, awareness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69748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8A745"/>
                </a:solidFill>
                <a:latin typeface="Calibri"/>
              </a:rPr>
              <a:t>→ Decisions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2011680"/>
            <a:ext cx="2651760" cy="1005840"/>
          </a:xfrm>
          <a:prstGeom prst="rect">
            <a:avLst/>
          </a:prstGeom>
          <a:solidFill>
            <a:srgbClr val="FFF3CD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6120" y="2011680"/>
            <a:ext cx="5080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23317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3366"/>
                </a:solidFill>
                <a:latin typeface="Calibri"/>
              </a:rPr>
              <a:t>±4-5 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651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Calibri"/>
              </a:rPr>
              <a:t>Satisfaction, NPS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269748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C107"/>
                </a:solidFill>
                <a:latin typeface="Calibri"/>
              </a:rPr>
              <a:t>→ Direction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011680"/>
            <a:ext cx="2651760" cy="1005840"/>
          </a:xfrm>
          <a:prstGeom prst="rect">
            <a:avLst/>
          </a:prstGeom>
          <a:solidFill>
            <a:srgbClr val="F8D7DA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2011680"/>
            <a:ext cx="5080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23317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3366"/>
                </a:solidFill>
                <a:latin typeface="Calibri"/>
              </a:rPr>
              <a:t>±8-15 pts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2651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Calibri"/>
              </a:rPr>
              <a:t>Intent, polarized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269748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C3545"/>
                </a:solidFill>
                <a:latin typeface="Calibri"/>
              </a:rPr>
              <a:t>→ Validate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200400"/>
            <a:ext cx="50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2918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Documented accuracy. Known limits. Transparent methodology.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Crowdwave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918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Documented accuracy. Known limits. Transparent methodology.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5720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